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6" r:id="rId10"/>
    <p:sldId id="267" r:id="rId11"/>
    <p:sldId id="268" r:id="rId12"/>
    <p:sldId id="269" r:id="rId13"/>
    <p:sldId id="270" r:id="rId14"/>
    <p:sldId id="271" r:id="rId15"/>
  </p:sldIdLst>
  <p:sldSz cx="12192000" cy="6858000"/>
  <p:notesSz cx="7315200" cy="96012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3D2FAD-25A7-4948-8540-1281F2AC1492}" v="1091" dt="2026-06-16T16:05:49.2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99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8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יעל כהן" userId="a1bc11c3fca48018" providerId="LiveId" clId="{C0D94EC9-F4BE-438B-A364-E97A8DA8A1CE}"/>
    <pc:docChg chg="undo redo custSel addSld delSld modSld sldOrd modNotesMaster">
      <pc:chgData name="יעל כהן" userId="a1bc11c3fca48018" providerId="LiveId" clId="{C0D94EC9-F4BE-438B-A364-E97A8DA8A1CE}" dt="2026-06-16T16:06:34.779" v="3424" actId="20577"/>
      <pc:docMkLst>
        <pc:docMk/>
      </pc:docMkLst>
      <pc:sldChg chg="modSp mod">
        <pc:chgData name="יעל כהן" userId="a1bc11c3fca48018" providerId="LiveId" clId="{C0D94EC9-F4BE-438B-A364-E97A8DA8A1CE}" dt="2026-06-10T15:30:18.101" v="2291" actId="20577"/>
        <pc:sldMkLst>
          <pc:docMk/>
          <pc:sldMk cId="4220051945" sldId="256"/>
        </pc:sldMkLst>
        <pc:spChg chg="mod">
          <ac:chgData name="יעל כהן" userId="a1bc11c3fca48018" providerId="LiveId" clId="{C0D94EC9-F4BE-438B-A364-E97A8DA8A1CE}" dt="2026-06-10T15:30:18.101" v="2291" actId="20577"/>
          <ac:spMkLst>
            <pc:docMk/>
            <pc:sldMk cId="4220051945" sldId="256"/>
            <ac:spMk id="2" creationId="{D7E2C109-5633-CE19-7BBB-4B289A1DEA19}"/>
          </ac:spMkLst>
        </pc:spChg>
      </pc:sldChg>
      <pc:sldChg chg="addSp delSp modSp mod">
        <pc:chgData name="יעל כהן" userId="a1bc11c3fca48018" providerId="LiveId" clId="{C0D94EC9-F4BE-438B-A364-E97A8DA8A1CE}" dt="2026-06-15T09:29:54.038" v="2826" actId="20577"/>
        <pc:sldMkLst>
          <pc:docMk/>
          <pc:sldMk cId="2377532356" sldId="257"/>
        </pc:sldMkLst>
        <pc:spChg chg="mod">
          <ac:chgData name="יעל כהן" userId="a1bc11c3fca48018" providerId="LiveId" clId="{C0D94EC9-F4BE-438B-A364-E97A8DA8A1CE}" dt="2026-06-15T09:29:54.038" v="2826" actId="20577"/>
          <ac:spMkLst>
            <pc:docMk/>
            <pc:sldMk cId="2377532356" sldId="257"/>
            <ac:spMk id="4" creationId="{05DA6A6E-6299-3ACB-3D78-0F843352D713}"/>
          </ac:spMkLst>
        </pc:spChg>
        <pc:picChg chg="mod">
          <ac:chgData name="יעל כהן" userId="a1bc11c3fca48018" providerId="LiveId" clId="{C0D94EC9-F4BE-438B-A364-E97A8DA8A1CE}" dt="2026-06-09T16:33:04.306" v="869" actId="1076"/>
          <ac:picMkLst>
            <pc:docMk/>
            <pc:sldMk cId="2377532356" sldId="257"/>
            <ac:picMk id="8" creationId="{7F4DA896-9B9A-D679-8E81-BDDBA7868FC3}"/>
          </ac:picMkLst>
        </pc:picChg>
      </pc:sldChg>
      <pc:sldChg chg="addSp modSp mod">
        <pc:chgData name="יעל כהן" userId="a1bc11c3fca48018" providerId="LiveId" clId="{C0D94EC9-F4BE-438B-A364-E97A8DA8A1CE}" dt="2026-06-15T09:25:44.021" v="2772" actId="14100"/>
        <pc:sldMkLst>
          <pc:docMk/>
          <pc:sldMk cId="189089360" sldId="258"/>
        </pc:sldMkLst>
        <pc:spChg chg="mod">
          <ac:chgData name="יעל כהן" userId="a1bc11c3fca48018" providerId="LiveId" clId="{C0D94EC9-F4BE-438B-A364-E97A8DA8A1CE}" dt="2026-06-15T09:25:44.021" v="2772" actId="14100"/>
          <ac:spMkLst>
            <pc:docMk/>
            <pc:sldMk cId="189089360" sldId="258"/>
            <ac:spMk id="2" creationId="{47771334-6A03-9042-0482-7EE19D80AF1F}"/>
          </ac:spMkLst>
        </pc:spChg>
        <pc:picChg chg="add mod">
          <ac:chgData name="יעל כהן" userId="a1bc11c3fca48018" providerId="LiveId" clId="{C0D94EC9-F4BE-438B-A364-E97A8DA8A1CE}" dt="2026-06-15T09:25:34.392" v="2770" actId="1076"/>
          <ac:picMkLst>
            <pc:docMk/>
            <pc:sldMk cId="189089360" sldId="258"/>
            <ac:picMk id="4" creationId="{0C86EA74-59B6-353D-0C03-1189927847C4}"/>
          </ac:picMkLst>
        </pc:picChg>
      </pc:sldChg>
      <pc:sldChg chg="addSp delSp modSp new mod">
        <pc:chgData name="יעל כהן" userId="a1bc11c3fca48018" providerId="LiveId" clId="{C0D94EC9-F4BE-438B-A364-E97A8DA8A1CE}" dt="2026-06-16T15:33:48.971" v="3079" actId="20577"/>
        <pc:sldMkLst>
          <pc:docMk/>
          <pc:sldMk cId="773959797" sldId="259"/>
        </pc:sldMkLst>
        <pc:spChg chg="add mod">
          <ac:chgData name="יעל כהן" userId="a1bc11c3fca48018" providerId="LiveId" clId="{C0D94EC9-F4BE-438B-A364-E97A8DA8A1CE}" dt="2026-06-16T15:33:48.971" v="3079" actId="20577"/>
          <ac:spMkLst>
            <pc:docMk/>
            <pc:sldMk cId="773959797" sldId="259"/>
            <ac:spMk id="3" creationId="{ED9C475D-F8E7-298C-BB24-9E84FDC30510}"/>
          </ac:spMkLst>
        </pc:spChg>
        <pc:picChg chg="add mod">
          <ac:chgData name="יעל כהן" userId="a1bc11c3fca48018" providerId="LiveId" clId="{C0D94EC9-F4BE-438B-A364-E97A8DA8A1CE}" dt="2026-06-09T16:33:23.563" v="873" actId="14100"/>
          <ac:picMkLst>
            <pc:docMk/>
            <pc:sldMk cId="773959797" sldId="259"/>
            <ac:picMk id="5" creationId="{003A253D-E91C-CDD2-393B-34021248BBE1}"/>
          </ac:picMkLst>
        </pc:picChg>
      </pc:sldChg>
      <pc:sldChg chg="addSp modSp new mod">
        <pc:chgData name="יעל כהן" userId="a1bc11c3fca48018" providerId="LiveId" clId="{C0D94EC9-F4BE-438B-A364-E97A8DA8A1CE}" dt="2026-06-14T13:44:28.805" v="2401" actId="20577"/>
        <pc:sldMkLst>
          <pc:docMk/>
          <pc:sldMk cId="1614449349" sldId="260"/>
        </pc:sldMkLst>
        <pc:spChg chg="add mod">
          <ac:chgData name="יעל כהן" userId="a1bc11c3fca48018" providerId="LiveId" clId="{C0D94EC9-F4BE-438B-A364-E97A8DA8A1CE}" dt="2026-06-14T13:44:28.805" v="2401" actId="20577"/>
          <ac:spMkLst>
            <pc:docMk/>
            <pc:sldMk cId="1614449349" sldId="260"/>
            <ac:spMk id="2" creationId="{5863BFC7-9F57-664E-7CAF-01EA2951A83A}"/>
          </ac:spMkLst>
        </pc:spChg>
        <pc:picChg chg="add mod">
          <ac:chgData name="יעל כהן" userId="a1bc11c3fca48018" providerId="LiveId" clId="{C0D94EC9-F4BE-438B-A364-E97A8DA8A1CE}" dt="2026-06-14T13:44:16.999" v="2400" actId="14100"/>
          <ac:picMkLst>
            <pc:docMk/>
            <pc:sldMk cId="1614449349" sldId="260"/>
            <ac:picMk id="4" creationId="{AEFBE04D-8105-416C-FFC2-EEF045631703}"/>
          </ac:picMkLst>
        </pc:picChg>
      </pc:sldChg>
      <pc:sldChg chg="addSp delSp modSp new mod ord">
        <pc:chgData name="יעל כהן" userId="a1bc11c3fca48018" providerId="LiveId" clId="{C0D94EC9-F4BE-438B-A364-E97A8DA8A1CE}" dt="2026-06-16T15:40:34.832" v="3193" actId="20577"/>
        <pc:sldMkLst>
          <pc:docMk/>
          <pc:sldMk cId="3852330534" sldId="261"/>
        </pc:sldMkLst>
        <pc:spChg chg="add mod">
          <ac:chgData name="יעל כהן" userId="a1bc11c3fca48018" providerId="LiveId" clId="{C0D94EC9-F4BE-438B-A364-E97A8DA8A1CE}" dt="2026-06-16T15:40:34.832" v="3193" actId="20577"/>
          <ac:spMkLst>
            <pc:docMk/>
            <pc:sldMk cId="3852330534" sldId="261"/>
            <ac:spMk id="2" creationId="{F8B722EC-1B11-DBB3-0868-B3C2A017E20B}"/>
          </ac:spMkLst>
        </pc:spChg>
        <pc:picChg chg="add mod">
          <ac:chgData name="יעל כהן" userId="a1bc11c3fca48018" providerId="LiveId" clId="{C0D94EC9-F4BE-438B-A364-E97A8DA8A1CE}" dt="2026-06-14T13:23:42.433" v="2368" actId="14100"/>
          <ac:picMkLst>
            <pc:docMk/>
            <pc:sldMk cId="3852330534" sldId="261"/>
            <ac:picMk id="5" creationId="{3BD7CA48-6021-85EA-3EDA-B82D676F87A7}"/>
          </ac:picMkLst>
        </pc:picChg>
      </pc:sldChg>
      <pc:sldChg chg="addSp delSp modSp new mod">
        <pc:chgData name="יעל כהן" userId="a1bc11c3fca48018" providerId="LiveId" clId="{C0D94EC9-F4BE-438B-A364-E97A8DA8A1CE}" dt="2026-06-14T14:49:35.361" v="2428" actId="20577"/>
        <pc:sldMkLst>
          <pc:docMk/>
          <pc:sldMk cId="1623113971" sldId="262"/>
        </pc:sldMkLst>
        <pc:spChg chg="add mod">
          <ac:chgData name="יעל כהן" userId="a1bc11c3fca48018" providerId="LiveId" clId="{C0D94EC9-F4BE-438B-A364-E97A8DA8A1CE}" dt="2026-06-14T14:49:35.361" v="2428" actId="20577"/>
          <ac:spMkLst>
            <pc:docMk/>
            <pc:sldMk cId="1623113971" sldId="262"/>
            <ac:spMk id="9" creationId="{E06ED79E-8ED7-DA78-36B9-0F4AF9502996}"/>
          </ac:spMkLst>
        </pc:spChg>
      </pc:sldChg>
      <pc:sldChg chg="addSp delSp modSp new mod">
        <pc:chgData name="יעל כהן" userId="a1bc11c3fca48018" providerId="LiveId" clId="{C0D94EC9-F4BE-438B-A364-E97A8DA8A1CE}" dt="2026-06-16T15:43:36.383" v="3329" actId="1076"/>
        <pc:sldMkLst>
          <pc:docMk/>
          <pc:sldMk cId="2667609284" sldId="263"/>
        </pc:sldMkLst>
        <pc:spChg chg="add mod">
          <ac:chgData name="יעל כהן" userId="a1bc11c3fca48018" providerId="LiveId" clId="{C0D94EC9-F4BE-438B-A364-E97A8DA8A1CE}" dt="2026-06-16T15:43:31.679" v="3327" actId="20577"/>
          <ac:spMkLst>
            <pc:docMk/>
            <pc:sldMk cId="2667609284" sldId="263"/>
            <ac:spMk id="3" creationId="{26DA385B-9DC9-8BAB-4DAE-AEAA207F94C3}"/>
          </ac:spMkLst>
        </pc:spChg>
        <pc:picChg chg="add mod">
          <ac:chgData name="יעל כהן" userId="a1bc11c3fca48018" providerId="LiveId" clId="{C0D94EC9-F4BE-438B-A364-E97A8DA8A1CE}" dt="2026-06-16T15:43:36.383" v="3329" actId="1076"/>
          <ac:picMkLst>
            <pc:docMk/>
            <pc:sldMk cId="2667609284" sldId="263"/>
            <ac:picMk id="5" creationId="{FE6319BC-27D3-5FC5-7A7D-B94591002F32}"/>
          </ac:picMkLst>
        </pc:picChg>
      </pc:sldChg>
      <pc:sldChg chg="addSp modSp new mod">
        <pc:chgData name="יעל כהן" userId="a1bc11c3fca48018" providerId="LiveId" clId="{C0D94EC9-F4BE-438B-A364-E97A8DA8A1CE}" dt="2026-06-15T15:27:28.238" v="3065" actId="20577"/>
        <pc:sldMkLst>
          <pc:docMk/>
          <pc:sldMk cId="1891147782" sldId="266"/>
        </pc:sldMkLst>
        <pc:spChg chg="add mod">
          <ac:chgData name="יעל כהן" userId="a1bc11c3fca48018" providerId="LiveId" clId="{C0D94EC9-F4BE-438B-A364-E97A8DA8A1CE}" dt="2026-06-15T15:27:28.238" v="3065" actId="20577"/>
          <ac:spMkLst>
            <pc:docMk/>
            <pc:sldMk cId="1891147782" sldId="266"/>
            <ac:spMk id="2" creationId="{3C1E87F8-0B8F-C666-12E7-743FE5F4F768}"/>
          </ac:spMkLst>
        </pc:spChg>
        <pc:picChg chg="add mod">
          <ac:chgData name="יעל כהן" userId="a1bc11c3fca48018" providerId="LiveId" clId="{C0D94EC9-F4BE-438B-A364-E97A8DA8A1CE}" dt="2026-06-09T18:54:27.761" v="1554" actId="1076"/>
          <ac:picMkLst>
            <pc:docMk/>
            <pc:sldMk cId="1891147782" sldId="266"/>
            <ac:picMk id="4" creationId="{196BEF00-52C4-92CC-8727-09BDE8EF00BE}"/>
          </ac:picMkLst>
        </pc:picChg>
      </pc:sldChg>
      <pc:sldChg chg="addSp modSp new mod">
        <pc:chgData name="יעל כהן" userId="a1bc11c3fca48018" providerId="LiveId" clId="{C0D94EC9-F4BE-438B-A364-E97A8DA8A1CE}" dt="2026-06-16T16:06:34.779" v="3424" actId="20577"/>
        <pc:sldMkLst>
          <pc:docMk/>
          <pc:sldMk cId="1164777694" sldId="267"/>
        </pc:sldMkLst>
        <pc:spChg chg="add mod">
          <ac:chgData name="יעל כהן" userId="a1bc11c3fca48018" providerId="LiveId" clId="{C0D94EC9-F4BE-438B-A364-E97A8DA8A1CE}" dt="2026-06-16T16:06:34.779" v="3424" actId="20577"/>
          <ac:spMkLst>
            <pc:docMk/>
            <pc:sldMk cId="1164777694" sldId="267"/>
            <ac:spMk id="2" creationId="{038D732B-1070-546A-4C10-0CB0BA834E55}"/>
          </ac:spMkLst>
        </pc:spChg>
        <pc:picChg chg="add mod">
          <ac:chgData name="יעל כהן" userId="a1bc11c3fca48018" providerId="LiveId" clId="{C0D94EC9-F4BE-438B-A364-E97A8DA8A1CE}" dt="2026-06-09T19:20:14.652" v="1752" actId="1076"/>
          <ac:picMkLst>
            <pc:docMk/>
            <pc:sldMk cId="1164777694" sldId="267"/>
            <ac:picMk id="4" creationId="{415A8CBC-3F52-C2E7-BE58-4E5AED8AF678}"/>
          </ac:picMkLst>
        </pc:picChg>
      </pc:sldChg>
      <pc:sldChg chg="addSp modSp new mod">
        <pc:chgData name="יעל כהן" userId="a1bc11c3fca48018" providerId="LiveId" clId="{C0D94EC9-F4BE-438B-A364-E97A8DA8A1CE}" dt="2026-06-16T16:05:49.298" v="3359" actId="20577"/>
        <pc:sldMkLst>
          <pc:docMk/>
          <pc:sldMk cId="3727775890" sldId="268"/>
        </pc:sldMkLst>
        <pc:spChg chg="add mod">
          <ac:chgData name="יעל כהן" userId="a1bc11c3fca48018" providerId="LiveId" clId="{C0D94EC9-F4BE-438B-A364-E97A8DA8A1CE}" dt="2026-06-16T16:05:49.298" v="3359" actId="20577"/>
          <ac:spMkLst>
            <pc:docMk/>
            <pc:sldMk cId="3727775890" sldId="268"/>
            <ac:spMk id="2" creationId="{F33326FA-D76E-A837-E803-5C29713AE6FD}"/>
          </ac:spMkLst>
        </pc:spChg>
      </pc:sldChg>
      <pc:sldChg chg="addSp delSp modSp new mod modShow">
        <pc:chgData name="יעל כהן" userId="a1bc11c3fca48018" providerId="LiveId" clId="{C0D94EC9-F4BE-438B-A364-E97A8DA8A1CE}" dt="2026-06-15T15:00:16.217" v="3025" actId="729"/>
        <pc:sldMkLst>
          <pc:docMk/>
          <pc:sldMk cId="251392566" sldId="269"/>
        </pc:sldMkLst>
        <pc:spChg chg="add mod">
          <ac:chgData name="יעל כהן" userId="a1bc11c3fca48018" providerId="LiveId" clId="{C0D94EC9-F4BE-438B-A364-E97A8DA8A1CE}" dt="2026-06-15T11:11:15.970" v="3020" actId="20577"/>
          <ac:spMkLst>
            <pc:docMk/>
            <pc:sldMk cId="251392566" sldId="269"/>
            <ac:spMk id="2" creationId="{E350A83C-8DA9-7711-292B-22A997BCCC93}"/>
          </ac:spMkLst>
        </pc:spChg>
        <pc:picChg chg="add mod">
          <ac:chgData name="יעל כהן" userId="a1bc11c3fca48018" providerId="LiveId" clId="{C0D94EC9-F4BE-438B-A364-E97A8DA8A1CE}" dt="2026-06-15T11:10:24.221" v="2923" actId="1076"/>
          <ac:picMkLst>
            <pc:docMk/>
            <pc:sldMk cId="251392566" sldId="269"/>
            <ac:picMk id="4" creationId="{5BA9BDBC-712A-8ACC-5CE2-0150C5309B67}"/>
          </ac:picMkLst>
        </pc:picChg>
        <pc:picChg chg="add del mod">
          <ac:chgData name="יעל כהן" userId="a1bc11c3fca48018" providerId="LiveId" clId="{C0D94EC9-F4BE-438B-A364-E97A8DA8A1CE}" dt="2026-06-15T11:10:18.429" v="2921" actId="478"/>
          <ac:picMkLst>
            <pc:docMk/>
            <pc:sldMk cId="251392566" sldId="269"/>
            <ac:picMk id="6" creationId="{D4A59026-2F9C-6321-4C82-480020D9811D}"/>
          </ac:picMkLst>
        </pc:picChg>
      </pc:sldChg>
      <pc:sldChg chg="addSp delSp modSp new mod">
        <pc:chgData name="יעל כהן" userId="a1bc11c3fca48018" providerId="LiveId" clId="{C0D94EC9-F4BE-438B-A364-E97A8DA8A1CE}" dt="2026-06-15T11:16:38.842" v="3021" actId="21"/>
        <pc:sldMkLst>
          <pc:docMk/>
          <pc:sldMk cId="641450579" sldId="270"/>
        </pc:sldMkLst>
        <pc:spChg chg="add mod">
          <ac:chgData name="יעל כהן" userId="a1bc11c3fca48018" providerId="LiveId" clId="{C0D94EC9-F4BE-438B-A364-E97A8DA8A1CE}" dt="2026-06-15T11:16:38.842" v="3021" actId="21"/>
          <ac:spMkLst>
            <pc:docMk/>
            <pc:sldMk cId="641450579" sldId="270"/>
            <ac:spMk id="2" creationId="{28872203-5370-EAA9-A980-0B6BC809C13C}"/>
          </ac:spMkLst>
        </pc:spChg>
      </pc:sldChg>
      <pc:sldChg chg="addSp modSp new mod modShow">
        <pc:chgData name="יעל כהן" userId="a1bc11c3fca48018" providerId="LiveId" clId="{C0D94EC9-F4BE-438B-A364-E97A8DA8A1CE}" dt="2026-06-15T15:00:21.586" v="3026" actId="729"/>
        <pc:sldMkLst>
          <pc:docMk/>
          <pc:sldMk cId="3735696170" sldId="271"/>
        </pc:sldMkLst>
        <pc:spChg chg="add mod">
          <ac:chgData name="יעל כהן" userId="a1bc11c3fca48018" providerId="LiveId" clId="{C0D94EC9-F4BE-438B-A364-E97A8DA8A1CE}" dt="2026-06-09T20:52:17.572" v="2239" actId="2710"/>
          <ac:spMkLst>
            <pc:docMk/>
            <pc:sldMk cId="3735696170" sldId="271"/>
            <ac:spMk id="2" creationId="{9CB47F21-874B-A3E2-06EC-8616EE4E6AA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4145281" y="1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695" y="1"/>
            <a:ext cx="3169920" cy="481727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26139FA6-2AD0-4F06-9690-D370DB8F26C2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731521" y="4620577"/>
            <a:ext cx="5852160" cy="3780473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4145281" y="9119475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695" y="9119475"/>
            <a:ext cx="3169920" cy="481726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3F0FB104-A307-4B6E-A609-7652361D72A0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6595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1F3BD4E-395E-0E91-2104-545EB1B810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8798EC8-2017-CF24-07E5-32E43EECDE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9D3F839-C1CF-8E49-48EB-692DB054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0A77529-18AC-E2EC-187F-22E28CE9E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466C4AF-34CD-F63F-0CC8-61F84F110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984302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8024F92-409A-86E1-A0AC-78DB8596C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35A46E-6999-ABBD-EEFA-FC6705461B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E8B8D4E-5676-D9A5-21CF-F105BEA01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1C56064-D8EF-E33C-E541-85E96EAC2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2586C1A-8379-0009-776C-33F12A42F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429664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082EB1B-F4C9-2481-3A08-14A4C5539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152D229-DA37-E269-6498-F5213B9837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9C61382-AA8F-141D-A9E8-4AE2F1332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8C1F3A6-9839-F5EB-CBA4-86B9798B2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C83858E6-B225-593B-5EA8-AE73586E6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35343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835E752-8707-43E0-88E8-E0D730B301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0CE28C3-52E9-FA97-6115-62EE7709C2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8753295-A6B9-DD39-8B5A-326D4E46F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03A52AE-AAA4-EE07-339A-40B306801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B89AE475-5D6D-F47F-B2C0-B02CF008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666C6E07-79B6-FC9F-9CD0-6F8BB785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1888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394EE4C-37B3-A983-7F52-3CCD92AEB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473FEB4-B8DB-6402-BA08-D790EB7814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31D0C29-F02E-C725-7E03-D92FCB543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3E37EF1-D83F-873F-DFC0-81C27A3C5E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06B93A6B-8E75-9D9C-A0FA-825601F497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38ED6757-3C42-32F6-71E5-E8CC2283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33836F2A-B979-C8FB-7AFF-9B8C29C51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9679F605-0513-3FD1-18F3-829999010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59640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9C0AE07-38DB-BD0A-6725-71756B9BC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056A4124-626B-191C-4F9B-399091DEAD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066F8E0-F904-1E9D-389A-3B8BE85F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8B7DDEDE-BDC4-2F19-0259-1F23C29BC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8653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0E01DBB5-437E-0CEE-9F19-30C8EDDB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61911AD7-0ACA-3CFE-C8BF-03F510886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D7B36D96-FFE6-8488-7E37-C4D456CDA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19077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B0B3294-66DC-DB8A-8A7E-8DF1AC2A4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AE52668-5FA1-4B50-C3C9-1F524200D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A56CDFBC-F855-D539-0AF9-DA0A178B0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D4C18CC-11FD-965B-266B-229035C80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1D0238B-E667-BA79-ED45-58FFC64B9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7CE6EF1-708A-3E54-9D44-9BBEA2469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175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68257E1-84A9-9871-0CD4-619BE419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9F1DCA81-1153-A3CD-997A-33C3E35C88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BC71007-FD68-B245-8945-ADAE13F1E1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3B2C8084-5FCA-3739-59BB-789FED36E8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4D354937-990A-8FED-C26D-CA5314A04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2DD4E07C-53A7-0FE5-45A0-255329514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9381095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A910B51-D475-45AD-B12E-CBBFE94F4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9E1086F-F866-44C4-21E3-0CEBFA0247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D3C8D084-4582-42DD-48AB-5E9D54396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3DB7616-8FE0-AF0B-3179-D197663916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D9286AB-61BB-6615-2DF7-055E989F6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62357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A2C51BD6-0115-0791-47E1-82B4F6CEA9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653B49A-77FF-CFDC-178A-F1413D341F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39B38C9-DB35-95EF-272F-E0E1596FC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6C7A562-949D-22DE-6899-ED50B9A7F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864FD0D-11F8-0AB6-94EC-2A5D25EBF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775813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148726A8-73BE-D837-C62C-74D09A6114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8BEB985D-D50C-3819-77C9-45F67B3C10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83CC0118-8C0D-EB0C-869A-FD562646C4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14455C-F8A8-4641-8D2D-1846DE5ABB86}" type="datetimeFigureOut">
              <a:rPr lang="he-IL" smtClean="0"/>
              <a:t>א'/תמוז/תשפ"ו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6F42C18-8CAC-77C4-B742-0F07EE3A0B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32344CB-6A36-456A-EEC4-AC49EDF330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59E5BB5-3FE6-4136-9384-EA01EB235A79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78502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colab.research.google.com/drive/1itL9i4UtXlwoGlIQiTB9J6NXjDWvnzZ1?usp=sharing" TargetMode="Externa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E2C109-5633-CE19-7BBB-4B289A1DEA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984" y="2041621"/>
            <a:ext cx="10899648" cy="2387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4400" dirty="0"/>
              <a:t>Cubic Splines: </a:t>
            </a:r>
            <a:br>
              <a:rPr lang="he-IL" sz="4400" dirty="0"/>
            </a:br>
            <a:r>
              <a:rPr lang="he-IL" sz="3200" dirty="0" err="1"/>
              <a:t>From</a:t>
            </a:r>
            <a:r>
              <a:rPr lang="he-IL" sz="3200" dirty="0"/>
              <a:t> </a:t>
            </a:r>
            <a:r>
              <a:rPr lang="he-IL" sz="3200" dirty="0" err="1"/>
              <a:t>Statistical</a:t>
            </a:r>
            <a:r>
              <a:rPr lang="he-IL" sz="3200" dirty="0"/>
              <a:t> </a:t>
            </a:r>
            <a:r>
              <a:rPr lang="he-IL" sz="3200" dirty="0" err="1"/>
              <a:t>Need</a:t>
            </a:r>
            <a:r>
              <a:rPr lang="he-IL" sz="3200" dirty="0"/>
              <a:t> </a:t>
            </a:r>
            <a:r>
              <a:rPr lang="he-IL" sz="3200" dirty="0" err="1"/>
              <a:t>to</a:t>
            </a:r>
            <a:r>
              <a:rPr lang="he-IL" sz="3200" dirty="0"/>
              <a:t> </a:t>
            </a:r>
            <a:r>
              <a:rPr lang="he-IL" sz="3200" dirty="0" err="1"/>
              <a:t>Practical</a:t>
            </a:r>
            <a:r>
              <a:rPr lang="he-IL" sz="3200" dirty="0"/>
              <a:t> </a:t>
            </a:r>
            <a:r>
              <a:rPr lang="he-IL" sz="3200" dirty="0" err="1"/>
              <a:t>Solution</a:t>
            </a:r>
            <a:br>
              <a:rPr lang="en-US" dirty="0"/>
            </a:br>
            <a:endParaRPr lang="he-IL" dirty="0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85AC6309-66A5-605E-9DBB-C5BF86A0BA9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מאת יעל כהן</a:t>
            </a:r>
          </a:p>
        </p:txBody>
      </p:sp>
    </p:spTree>
    <p:extLst>
      <p:ext uri="{BB962C8B-B14F-4D97-AF65-F5344CB8AC3E}">
        <p14:creationId xmlns:p14="http://schemas.microsoft.com/office/powerpoint/2010/main" val="4220051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05DA6A6E-6299-3ACB-3D78-0F843352D713}"/>
                  </a:ext>
                </a:extLst>
              </p:cNvPr>
              <p:cNvSpPr txBox="1"/>
              <p:nvPr/>
            </p:nvSpPr>
            <p:spPr>
              <a:xfrm>
                <a:off x="339852" y="96012"/>
                <a:ext cx="11750040" cy="281654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r>
                  <a:rPr lang="he-IL" b="1" dirty="0"/>
                  <a:t>הקדמה:</a:t>
                </a:r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הנתונים בשטח: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dirty="0"/>
                  <a:t>משתנה הסבר/ניבוי </a:t>
                </a:r>
                <a:r>
                  <a:rPr lang="en-US" dirty="0"/>
                  <a:t>X</a:t>
                </a:r>
                <a:r>
                  <a:rPr lang="he-IL" dirty="0"/>
                  <a:t> – משתנה בלתי תלוי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he-IL" dirty="0"/>
                  <a:t>משתנה מוסבר/תגובה </a:t>
                </a:r>
                <a:r>
                  <a:rPr lang="en-US" dirty="0"/>
                  <a:t>Y</a:t>
                </a:r>
                <a:r>
                  <a:rPr lang="he-IL" dirty="0"/>
                  <a:t>- משתנה תלוי</a:t>
                </a: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המטרה:</a:t>
                </a:r>
                <a:r>
                  <a:rPr lang="he-IL" dirty="0"/>
                  <a:t> למצוא פונקציה מתמטית</a:t>
                </a:r>
                <a:r>
                  <a:rPr lang="en-US" dirty="0"/>
                  <a:t>f(X) </a:t>
                </a:r>
                <a:r>
                  <a:rPr lang="he-IL" dirty="0"/>
                  <a:t> (שנסמן גם בתור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m:rPr>
                            <m:sty m:val="p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acc>
                  </m:oMath>
                </a14:m>
                <a:r>
                  <a:rPr lang="he-IL" dirty="0"/>
                  <a:t>) שתאפשר לנו לחזות את ערכו של </a:t>
                </a:r>
                <a:r>
                  <a:rPr lang="en-US" dirty="0"/>
                  <a:t>Y</a:t>
                </a:r>
                <a:r>
                  <a:rPr lang="he-IL" dirty="0"/>
                  <a:t> עבור תצפיות חדשות בצורה המדויקת ביותר.</a:t>
                </a:r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05DA6A6E-6299-3ACB-3D78-0F843352D7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852" y="96012"/>
                <a:ext cx="11750040" cy="2816540"/>
              </a:xfrm>
              <a:prstGeom prst="rect">
                <a:avLst/>
              </a:prstGeom>
              <a:blipFill>
                <a:blip r:embed="rId2"/>
                <a:stretch>
                  <a:fillRect l="-727" t="-1299" r="-4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תמונה 7">
            <a:extLst>
              <a:ext uri="{FF2B5EF4-FFF2-40B4-BE49-F238E27FC236}">
                <a16:creationId xmlns:a16="http://schemas.microsoft.com/office/drawing/2014/main" id="{7F4DA896-9B9A-D679-8E81-BDDBA7868F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220" y="2375558"/>
            <a:ext cx="5681979" cy="4010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532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47771334-6A03-9042-0482-7EE19D80AF1F}"/>
                  </a:ext>
                </a:extLst>
              </p:cNvPr>
              <p:cNvSpPr txBox="1"/>
              <p:nvPr/>
            </p:nvSpPr>
            <p:spPr>
              <a:xfrm>
                <a:off x="3502153" y="166567"/>
                <a:ext cx="8458962" cy="583750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b="1" dirty="0"/>
                  <a:t>פתרון: </a:t>
                </a:r>
                <a:r>
                  <a:rPr lang="he-IL" dirty="0"/>
                  <a:t>רגרסיה לינארית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הנחת היסוד: </a:t>
                </a:r>
                <a:r>
                  <a:rPr lang="he-IL" dirty="0"/>
                  <a:t>המודל המסביר את הקשר בין המשתנים הוא מודל לינארי: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smtClean="0"/>
                      <m:t>Y</m:t>
                    </m:r>
                    <m:r>
                      <m:rPr>
                        <m:nor/>
                      </m:rPr>
                      <a:rPr lang="en-US" smtClean="0"/>
                      <m:t> = </m:t>
                    </m:r>
                    <m:r>
                      <m:rPr>
                        <m:nor/>
                      </m:rPr>
                      <a:rPr lang="en-US" smtClean="0"/>
                      <m:t>aX</m:t>
                    </m:r>
                    <m:r>
                      <m:rPr>
                        <m:nor/>
                      </m:rPr>
                      <a:rPr lang="en-US" smtClean="0"/>
                      <m:t> + </m:t>
                    </m:r>
                    <m:r>
                      <m:rPr>
                        <m:nor/>
                      </m:rPr>
                      <a:rPr lang="en-US" smtClean="0"/>
                      <m:t>b</m:t>
                    </m:r>
                    <m:r>
                      <m:rPr>
                        <m:nor/>
                      </m:rPr>
                      <a:rPr lang="en-US" smtClean="0"/>
                      <m:t> </m:t>
                    </m:r>
                    <m:r>
                      <m:rPr>
                        <m:nor/>
                      </m:rPr>
                      <a:rPr lang="en-US" smtClean="0"/>
                      <m:t>+ </m:t>
                    </m:r>
                    <m:r>
                      <m:rPr>
                        <m:sty m:val="p"/>
                      </m:rPr>
                      <a:rPr lang="en-US" i="1" smtClean="0">
                        <a:latin typeface="Cambria Math" panose="02040503050406030204" pitchFamily="18" charset="0"/>
                      </a:rPr>
                      <m:t>ϵ</m:t>
                    </m:r>
                  </m:oMath>
                </a14:m>
                <a:r>
                  <a:rPr lang="he-IL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עבור </a:t>
                </a:r>
                <a:r>
                  <a:rPr lang="en-US" b="1" dirty="0"/>
                  <a:t> n </a:t>
                </a:r>
                <a:r>
                  <a:rPr lang="he-IL" b="1" dirty="0"/>
                  <a:t>דגימות </a:t>
                </a:r>
                <a:r>
                  <a:rPr lang="en-US" b="1" dirty="0"/>
                  <a:t>(X_1, Y_1), ..., (</a:t>
                </a:r>
                <a:r>
                  <a:rPr lang="en-US" b="1" dirty="0" err="1"/>
                  <a:t>X_n</a:t>
                </a:r>
                <a:r>
                  <a:rPr lang="en-US" b="1" dirty="0"/>
                  <a:t>, </a:t>
                </a:r>
                <a:r>
                  <a:rPr lang="en-US" b="1" dirty="0" err="1"/>
                  <a:t>Y_n</a:t>
                </a:r>
                <a:r>
                  <a:rPr lang="en-US" b="1" dirty="0"/>
                  <a:t>)</a:t>
                </a:r>
                <a:r>
                  <a:rPr lang="he-IL" b="1" dirty="0"/>
                  <a:t> נקבל: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n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n-NO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nor/>
                          </m:rPr>
                          <a:rPr lang="nn-NO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m:rPr>
                        <m:nor/>
                      </m:rPr>
                      <a:rPr lang="nn-NO" i="0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nor/>
                      </m:rPr>
                      <a:rPr lang="nn-NO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nn-NO" i="0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nor/>
                      </m:rPr>
                      <a:rPr lang="nn-NO" i="0" smtClean="0">
                        <a:latin typeface="Cambria Math" panose="02040503050406030204" pitchFamily="18" charset="0"/>
                      </a:rPr>
                      <m:t>a</m:t>
                    </m:r>
                    <m:sSub>
                      <m:sSubPr>
                        <m:ctrlPr>
                          <a:rPr lang="nn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nn-NO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nor/>
                          </m:rPr>
                          <a:rPr lang="nn-NO" i="0" smtClean="0">
                            <a:latin typeface="Cambria Math" panose="02040503050406030204" pitchFamily="18" charset="0"/>
                          </a:rPr>
                          <m:t>i</m:t>
                        </m:r>
                      </m:sub>
                    </m:sSub>
                    <m:r>
                      <m:rPr>
                        <m:nor/>
                      </m:rPr>
                      <a:rPr lang="nn-NO" i="0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nor/>
                      </m:rPr>
                      <a:rPr lang="nn-NO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nor/>
                      </m:rPr>
                      <a:rPr lang="nn-NO" i="0" smtClean="0">
                        <a:latin typeface="Cambria Math" panose="02040503050406030204" pitchFamily="18" charset="0"/>
                      </a:rPr>
                      <m:t> </m:t>
                    </m:r>
                    <m:r>
                      <m:rPr>
                        <m:nor/>
                      </m:rPr>
                      <a:rPr lang="nn-NO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m:rPr>
                        <m:nor/>
                      </m:rPr>
                      <a:rPr lang="nn-NO" i="0" smtClean="0">
                        <a:latin typeface="Cambria Math" panose="02040503050406030204" pitchFamily="18" charset="0"/>
                      </a:rPr>
                      <m:t> + </m:t>
                    </m:r>
                    <m:sSub>
                      <m:sSubPr>
                        <m:ctrlPr>
                          <a:rPr lang="nn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nn-NO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הגדרות והנחות: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 :a, b</a:t>
                </a:r>
                <a:r>
                  <a:rPr lang="he-IL" dirty="0"/>
                  <a:t>פרמטרים קבועים (שאינם ידועים).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nn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nn-NO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he-IL" dirty="0"/>
                  <a:t>: גורמי שגיאה (משתנים בלתי תלויים שווי התפלגות).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en-US" dirty="0"/>
                  <a:t>E[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n-NO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i="1" smtClean="0"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lang="nn-NO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] = 0</a:t>
                </a:r>
                <a:r>
                  <a:rPr lang="he-IL" dirty="0"/>
                  <a:t>- השגיאה מאוזנת מעל ומתחת לקו</a:t>
                </a:r>
              </a:p>
              <a:p>
                <a:pPr marL="285750" indent="-28575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he-IL" dirty="0"/>
                  <a:t> (שונות קבועה)</a:t>
                </a: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פונקציית הפסד (</a:t>
                </a:r>
                <a:r>
                  <a:rPr lang="en-US" b="1" dirty="0"/>
                  <a:t>RSS</a:t>
                </a:r>
                <a:r>
                  <a:rPr lang="he-IL" b="1" dirty="0"/>
                  <a:t>):</a:t>
                </a:r>
              </a:p>
              <a:p>
                <a14:m>
                  <m:oMath xmlns:m="http://schemas.openxmlformats.org/officeDocument/2006/math">
                    <m:r>
                      <a:rPr lang="he-IL" b="1" i="1" smtClean="0">
                        <a:latin typeface="Cambria Math" panose="02040503050406030204" pitchFamily="18" charset="0"/>
                      </a:rPr>
                      <m:t>𝑹𝑺𝑺</m:t>
                    </m:r>
                    <m:r>
                      <a:rPr lang="he-IL" b="1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he-IL" b="1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he-IL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he-IL" b="1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e-I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b="1" i="1" smtClean="0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he-IL" b="1" i="1" smtClean="0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he-IL" b="1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he-IL" b="1" i="1" smtClean="0">
                                    <a:latin typeface="Cambria Math" panose="02040503050406030204" pitchFamily="18" charset="0"/>
                                  </a:rPr>
                                  <m:t>𝒇</m:t>
                                </m:r>
                                <m:d>
                                  <m:dPr>
                                    <m:ctrlPr>
                                      <a:rPr lang="he-IL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he-IL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e-IL" b="1" i="1" smtClean="0">
                                            <a:latin typeface="Cambria Math" panose="02040503050406030204" pitchFamily="18" charset="0"/>
                                          </a:rPr>
                                          <m:t>𝒙</m:t>
                                        </m:r>
                                      </m:e>
                                      <m:sub>
                                        <m:r>
                                          <a:rPr lang="he-IL" b="1" i="1" smtClean="0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he-IL" b="1" i="1" smtClean="0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  <m:r>
                      <a:rPr lang="en-US" b="1" i="0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he-IL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he-IL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he-IL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he-IL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he-IL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he-IL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he-IL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he-IL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he-IL" b="1" i="1">
                                        <a:latin typeface="Cambria Math" panose="02040503050406030204" pitchFamily="18" charset="0"/>
                                      </a:rPr>
                                      <m:t>𝒚</m:t>
                                    </m:r>
                                  </m:e>
                                  <m:sub>
                                    <m:r>
                                      <a:rPr lang="he-IL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he-IL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̂"/>
                                    <m:ctrlPr>
                                      <a:rPr lang="he-IL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sSub>
                                      <m:sSubPr>
                                        <m:ctrlPr>
                                          <a:rPr lang="he-IL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he-IL" b="1" i="1">
                                            <a:latin typeface="Cambria Math" panose="02040503050406030204" pitchFamily="18" charset="0"/>
                                          </a:rPr>
                                          <m:t>𝒚</m:t>
                                        </m:r>
                                      </m:e>
                                      <m:sub>
                                        <m:r>
                                          <a:rPr lang="he-IL" b="1" i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he-IL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𝒊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  <m:sup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𝒏</m:t>
                        </m:r>
                      </m:sup>
                      <m:e>
                        <m:sSup>
                          <m:sSupPr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1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y</m:t>
                                    </m:r>
                                  </m:e>
                                  <m: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𝒊</m:t>
                                    </m:r>
                                  </m:sub>
                                </m:sSub>
                                <m:r>
                                  <a:rPr lang="en-US" b="1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d>
                                  <m:dPr>
                                    <m:ctrlP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𝒂</m:t>
                                    </m:r>
                                    <m:sSub>
                                      <m:sSubPr>
                                        <m:ctrl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m:rPr>
                                            <m:sty m:val="p"/>
                                          </m:rP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a:rPr lang="en-US" b="1" i="1">
                                            <a:latin typeface="Cambria Math" panose="02040503050406030204" pitchFamily="18" charset="0"/>
                                          </a:rPr>
                                          <m:t>𝒊</m:t>
                                        </m:r>
                                      </m:sub>
                                    </m:sSub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+</m:t>
                                    </m:r>
                                    <m:r>
                                      <a:rPr lang="en-US" b="1" i="1">
                                        <a:latin typeface="Cambria Math" panose="02040503050406030204" pitchFamily="18" charset="0"/>
                                      </a:rPr>
                                      <m:t>𝒃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b="1" i="1"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p>
                      </m:e>
                    </m:nary>
                  </m:oMath>
                </a14:m>
                <a:endParaRPr lang="he-IL" b="1" dirty="0"/>
              </a:p>
              <a:p>
                <a:pPr>
                  <a:lnSpc>
                    <a:spcPct val="150000"/>
                  </a:lnSpc>
                </a:pPr>
                <a:endParaRPr lang="he-IL" b="1" dirty="0"/>
              </a:p>
              <a:p>
                <a:endParaRPr lang="he-IL" b="1" dirty="0"/>
              </a:p>
            </p:txBody>
          </p:sp>
        </mc:Choice>
        <mc:Fallback xmlns="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47771334-6A03-9042-0482-7EE19D80AF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153" y="166567"/>
                <a:ext cx="8458962" cy="5837504"/>
              </a:xfrm>
              <a:prstGeom prst="rect">
                <a:avLst/>
              </a:prstGeom>
              <a:blipFill>
                <a:blip r:embed="rId2"/>
                <a:stretch>
                  <a:fillRect r="-649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0C86EA74-59B6-353D-0C03-118992784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3929"/>
            <a:ext cx="5292471" cy="3754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893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ED9C475D-F8E7-298C-BB24-9E84FDC30510}"/>
              </a:ext>
            </a:extLst>
          </p:cNvPr>
          <p:cNvSpPr txBox="1"/>
          <p:nvPr/>
        </p:nvSpPr>
        <p:spPr>
          <a:xfrm>
            <a:off x="2019300" y="154673"/>
            <a:ext cx="10010775" cy="88088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b="1" dirty="0"/>
              <a:t>הבעיה:</a:t>
            </a:r>
            <a:r>
              <a:rPr lang="he-IL" dirty="0"/>
              <a:t> מה קורה כשהקשר אינו ליניארי?</a:t>
            </a:r>
          </a:p>
          <a:p>
            <a:pPr>
              <a:lnSpc>
                <a:spcPct val="150000"/>
              </a:lnSpc>
            </a:pPr>
            <a:r>
              <a:rPr lang="he-IL" b="1" dirty="0"/>
              <a:t>התוצאה:</a:t>
            </a:r>
            <a:r>
              <a:rPr lang="he-IL" dirty="0"/>
              <a:t> תת-התאמה (</a:t>
            </a:r>
            <a:r>
              <a:rPr lang="en-US" dirty="0"/>
              <a:t> .(Underfitting</a:t>
            </a:r>
            <a:endParaRPr lang="he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003A253D-E91C-CDD2-393B-34021248BB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415" y="1459870"/>
            <a:ext cx="6891700" cy="4864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95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5863BFC7-9F57-664E-7CAF-01EA2951A83A}"/>
                  </a:ext>
                </a:extLst>
              </p:cNvPr>
              <p:cNvSpPr txBox="1"/>
              <p:nvPr/>
            </p:nvSpPr>
            <p:spPr>
              <a:xfrm>
                <a:off x="1776411" y="171450"/>
                <a:ext cx="10220325" cy="623472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b="1" dirty="0"/>
                  <a:t>פתרון:</a:t>
                </a:r>
                <a:r>
                  <a:rPr lang="he-IL" dirty="0"/>
                  <a:t> רגרסיה </a:t>
                </a:r>
                <a:r>
                  <a:rPr lang="he-IL" dirty="0" err="1"/>
                  <a:t>פולינומית</a:t>
                </a:r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הנחת היסוד:</a:t>
                </a:r>
                <a:r>
                  <a:rPr lang="he-IL" dirty="0"/>
                  <a:t> המודל הליניארי הפשוט אינו מתאים לנתונים, לכן נרחיב את מרחב המשתנים.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החלפת משתנים במטריצת העיצוב: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l-P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pl-PL" i="1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pl-PL" i="1">
                          <a:latin typeface="Cambria Math" panose="02040503050406030204" pitchFamily="18" charset="0"/>
                        </a:rPr>
                        <m:t>, </m:t>
                      </m:r>
                      <m:sSub>
                        <m:sSub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pl-PL" i="1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pl-PL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pl-PL" i="1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p>
                          <m:r>
                            <a:rPr lang="he-IL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p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,...</m:t>
                      </m:r>
                    </m:oMath>
                  </m:oMathPara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משוואת המודל: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𝑌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+…+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US" i="1" dirty="0"/>
              </a:p>
              <a:p>
                <a:pPr>
                  <a:lnSpc>
                    <a:spcPct val="150000"/>
                  </a:lnSpc>
                </a:pPr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+…+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עבור </a:t>
                </a:r>
                <a:r>
                  <a:rPr lang="en-US" b="1" dirty="0"/>
                  <a:t> n </a:t>
                </a:r>
                <a:r>
                  <a:rPr lang="he-IL" b="1" dirty="0"/>
                  <a:t>דגימות </a:t>
                </a:r>
                <a:r>
                  <a:rPr lang="en-US" b="1" dirty="0"/>
                  <a:t>(X_1, Y_1), ..., (</a:t>
                </a:r>
                <a:r>
                  <a:rPr lang="en-US" b="1" dirty="0" err="1"/>
                  <a:t>X_n</a:t>
                </a:r>
                <a:r>
                  <a:rPr lang="en-US" b="1" dirty="0"/>
                  <a:t>, </a:t>
                </a:r>
                <a:r>
                  <a:rPr lang="en-US" b="1" dirty="0" err="1"/>
                  <a:t>Y_n</a:t>
                </a:r>
                <a:r>
                  <a:rPr lang="en-US" b="1" dirty="0"/>
                  <a:t>)</a:t>
                </a:r>
                <a:r>
                  <a:rPr lang="he-IL" b="1" dirty="0"/>
                  <a:t> נקבל:</a:t>
                </a:r>
                <a:endParaRPr lang="en-US" b="1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𝑌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p>
                      </m:sSubSup>
                      <m:r>
                        <a:rPr lang="en-US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𝜖</m:t>
                          </m:r>
                        </m:e>
                        <m: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פונקציית ההפסד: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𝑹𝑺𝑺</m:t>
                      </m:r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̂"/>
                                      <m:ctrlP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sSub>
                                        <m:sSubPr>
                                          <m:ctrlP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𝒚</m:t>
                                          </m:r>
                                        </m:e>
                                        <m:sub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  <m:t>𝒚</m:t>
                                      </m:r>
                                    </m:e>
                                    <m:sub>
                                      <m: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  <m:t>𝒊</m:t>
                                      </m:r>
                                    </m:sub>
                                  </m:sSub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d>
                                    <m:dPr>
                                      <m:ctrlP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𝟎</m:t>
                                          </m:r>
                                        </m:sub>
                                      </m:sSub>
                                      <m: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𝟏</m:t>
                                          </m:r>
                                        </m:sub>
                                      </m:sSub>
                                      <m:sSub>
                                        <m:sSubPr>
                                          <m:ctrlP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</m:sSub>
                                      <m: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  <m:sSub>
                                        <m:sSubPr>
                                          <m:ctrlP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  <m:sup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𝟐</m:t>
                                          </m:r>
                                        </m:sup>
                                      </m:sSubSup>
                                      <m: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  <m:t>+…+</m:t>
                                      </m:r>
                                      <m:sSub>
                                        <m:sSubPr>
                                          <m:ctrlP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𝜷</m:t>
                                          </m:r>
                                        </m:e>
                                        <m:sub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</m:sub>
                                      </m:sSub>
                                      <m:sSubSup>
                                        <m:sSubSupPr>
                                          <m:ctrlP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𝒙</m:t>
                                          </m:r>
                                        </m:e>
                                        <m:sub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𝒊</m:t>
                                          </m:r>
                                        </m:sub>
                                        <m:sup>
                                          <m:r>
                                            <a:rPr lang="he-IL" b="1" i="1" smtClean="0">
                                              <a:latin typeface="Cambria Math" panose="02040503050406030204" pitchFamily="18" charset="0"/>
                                            </a:rPr>
                                            <m:t>𝒅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</m:d>
                            </m:e>
                            <m:sup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he-IL" b="1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זהו </a:t>
                </a:r>
                <a:r>
                  <a:rPr lang="he-IL" b="1" dirty="0"/>
                  <a:t>מודל גלובלי</a:t>
                </a:r>
                <a:r>
                  <a:rPr lang="he-IL" dirty="0"/>
                  <a:t>, כלומר, הערך של </a:t>
                </a:r>
                <a:r>
                  <a:rPr lang="he-IL" b="1" dirty="0"/>
                  <a:t>ה-Y החזוי</a:t>
                </a:r>
                <a:r>
                  <a:rPr lang="he-IL" dirty="0"/>
                  <a:t> בכל נקודה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מושפע מכל התצפיות במדגם.</a:t>
                </a:r>
              </a:p>
            </p:txBody>
          </p:sp>
        </mc:Choice>
        <mc:Fallback xmlns="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5863BFC7-9F57-664E-7CAF-01EA2951A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6411" y="171450"/>
                <a:ext cx="10220325" cy="6234720"/>
              </a:xfrm>
              <a:prstGeom prst="rect">
                <a:avLst/>
              </a:prstGeom>
              <a:blipFill>
                <a:blip r:embed="rId2"/>
                <a:stretch>
                  <a:fillRect r="-477" b="-58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AEFBE04D-8105-416C-FFC2-EEF045631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00" y="1036658"/>
            <a:ext cx="5446584" cy="3844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44493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F8B722EC-1B11-DBB3-0868-B3C2A017E20B}"/>
                  </a:ext>
                </a:extLst>
              </p:cNvPr>
              <p:cNvSpPr txBox="1"/>
              <p:nvPr/>
            </p:nvSpPr>
            <p:spPr>
              <a:xfrm>
                <a:off x="3289935" y="232022"/>
                <a:ext cx="8715375" cy="2031325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b="1" dirty="0"/>
                  <a:t>האתגר:</a:t>
                </a:r>
                <a:r>
                  <a:rPr lang="he-IL" dirty="0"/>
                  <a:t> נתונים מורכבים עם מגמות משתנות (לא ליניאריות).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הניסיון האינטואיטיבי:</a:t>
                </a:r>
                <a:r>
                  <a:rPr lang="he-IL" dirty="0"/>
                  <a:t> העלאת דרגת הפולינום (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lang="he-IL" dirty="0"/>
                  <a:t>.</a:t>
                </a:r>
                <a:endParaRPr lang="he-IL" b="1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התוצאה:</a:t>
                </a:r>
                <a:r>
                  <a:rPr lang="he-IL" dirty="0"/>
                  <a:t> התאמה גבוהה (</a:t>
                </a:r>
                <a:r>
                  <a:rPr lang="en-US" dirty="0"/>
                  <a:t>(Overfitting</a:t>
                </a:r>
                <a:r>
                  <a:rPr lang="he-IL" dirty="0"/>
                  <a:t>. המודל רודף אחרי הרעש האקראי במדגם במקום המגמה.</a:t>
                </a:r>
                <a:endParaRPr lang="en-US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תופעת </a:t>
                </a:r>
                <a:r>
                  <a:rPr lang="he-IL" b="1" dirty="0" err="1"/>
                  <a:t>רונגה</a:t>
                </a:r>
                <a:r>
                  <a:rPr lang="he-IL" b="1" dirty="0"/>
                  <a:t>:</a:t>
                </a:r>
                <a:r>
                  <a:rPr lang="he-IL" dirty="0"/>
                  <a:t> רגישות קיצונית לרעש במרכז גורמת לקצוות של המודל 'לברוח' ולהשתולל.</a:t>
                </a:r>
              </a:p>
              <a:p>
                <a:endParaRPr lang="he-IL" dirty="0"/>
              </a:p>
            </p:txBody>
          </p:sp>
        </mc:Choice>
        <mc:Fallback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F8B722EC-1B11-DBB3-0868-B3C2A017E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9935" y="232022"/>
                <a:ext cx="8715375" cy="2031325"/>
              </a:xfrm>
              <a:prstGeom prst="rect">
                <a:avLst/>
              </a:prstGeom>
              <a:blipFill>
                <a:blip r:embed="rId2"/>
                <a:stretch>
                  <a:fillRect l="-630" r="-56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>
            <a:extLst>
              <a:ext uri="{FF2B5EF4-FFF2-40B4-BE49-F238E27FC236}">
                <a16:creationId xmlns:a16="http://schemas.microsoft.com/office/drawing/2014/main" id="{3BD7CA48-6021-85EA-3EDA-B82D676F87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9935" y="2468881"/>
            <a:ext cx="5975828" cy="4157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2330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E06ED79E-8ED7-DA78-36B9-0F4AF9502996}"/>
                  </a:ext>
                </a:extLst>
              </p:cNvPr>
              <p:cNvSpPr txBox="1"/>
              <p:nvPr/>
            </p:nvSpPr>
            <p:spPr>
              <a:xfrm>
                <a:off x="2567940" y="175260"/>
                <a:ext cx="9486900" cy="4909549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b="1" dirty="0"/>
                  <a:t>פונקציות בסיס (</a:t>
                </a:r>
                <a:r>
                  <a:rPr lang="he-IL" b="1" dirty="0" err="1"/>
                  <a:t>Basis</a:t>
                </a:r>
                <a:r>
                  <a:rPr lang="he-IL" b="1" dirty="0"/>
                  <a:t> </a:t>
                </a:r>
                <a:r>
                  <a:rPr lang="he-IL" b="1" dirty="0" err="1"/>
                  <a:t>Functions</a:t>
                </a:r>
                <a:r>
                  <a:rPr lang="he-IL" b="1" dirty="0"/>
                  <a:t>):</a:t>
                </a:r>
                <a:endParaRPr lang="en-US" b="1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הקונספט:</a:t>
                </a:r>
                <a:r>
                  <a:rPr lang="he-IL" dirty="0"/>
                  <a:t> אנחנו לא משנים את אלגוריתם הרגרסיה (OLS), אלא משנים את "השפה" שבה אנחנו מציגים את המשתנה X.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הנוסחה הכללית:</a:t>
                </a:r>
                <a:endParaRPr lang="he-IL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𝒃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𝑴</m:t>
                          </m:r>
                        </m:sub>
                      </m:sSub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he-IL" b="1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מה זה b(x)?</a:t>
                </a:r>
                <a:r>
                  <a:rPr lang="he-IL" dirty="0"/>
                  <a:t> פונקציית בסיס שמתרגמת את </a:t>
                </a:r>
                <a:r>
                  <a:rPr lang="en-US" dirty="0"/>
                  <a:t>X</a:t>
                </a:r>
                <a:r>
                  <a:rPr lang="he-IL" dirty="0"/>
                  <a:t> למרחב מורכב.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היתרון:</a:t>
                </a:r>
                <a:r>
                  <a:rPr lang="he-IL" dirty="0"/>
                  <a:t> המודל נשאר ליניארי ביחס למקדמים</a:t>
                </a:r>
                <a14:m>
                  <m:oMath xmlns:m="http://schemas.openxmlformats.org/officeDocument/2006/math">
                    <m:r>
                      <a:rPr lang="he-IL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he-IL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he-IL" b="0" i="1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he-IL" dirty="0"/>
                  <a:t>, מה שמאפשר שימוש ב-OLS רגיל, למרות שהתוצאה היא עקומה.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ברגרסיה </a:t>
                </a:r>
                <a:r>
                  <a:rPr lang="he-IL" b="1" dirty="0" err="1"/>
                  <a:t>פולינומית</a:t>
                </a:r>
                <a:r>
                  <a:rPr lang="he-IL" b="1" dirty="0"/>
                  <a:t>:</a:t>
                </a:r>
                <a:r>
                  <a:rPr lang="he-IL" dirty="0"/>
                  <a:t> פונקציות הבסיס הן פשוט החזקות: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he-IL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d>
                      <m:d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he-I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he-IL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he-IL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he-IL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he-IL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he-IL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he-IL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p>
                    </m:sSubSup>
                  </m:oMath>
                </a14:m>
                <a:r>
                  <a:rPr lang="he-IL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השאיפה שלנו:</a:t>
                </a:r>
                <a:r>
                  <a:rPr lang="he-IL" dirty="0"/>
                  <a:t> למצוא פונקציות בסיס שייתנו לנו התאמה </a:t>
                </a:r>
                <a:r>
                  <a:rPr lang="he-IL" b="1" dirty="0"/>
                  <a:t>מקומית</a:t>
                </a:r>
                <a:r>
                  <a:rPr lang="he-IL" dirty="0"/>
                  <a:t> (שרק נתונים קרובים ישפיעו).</a:t>
                </a:r>
              </a:p>
              <a:p>
                <a:br>
                  <a:rPr lang="en-US" dirty="0"/>
                </a:br>
                <a:endParaRPr lang="he-IL" dirty="0"/>
              </a:p>
            </p:txBody>
          </p:sp>
        </mc:Choice>
        <mc:Fallback xmlns="">
          <p:sp>
            <p:nvSpPr>
              <p:cNvPr id="9" name="תיבת טקסט 8">
                <a:extLst>
                  <a:ext uri="{FF2B5EF4-FFF2-40B4-BE49-F238E27FC236}">
                    <a16:creationId xmlns:a16="http://schemas.microsoft.com/office/drawing/2014/main" id="{E06ED79E-8ED7-DA78-36B9-0F4AF95029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7940" y="175260"/>
                <a:ext cx="9486900" cy="4909549"/>
              </a:xfrm>
              <a:prstGeom prst="rect">
                <a:avLst/>
              </a:prstGeom>
              <a:blipFill>
                <a:blip r:embed="rId2"/>
                <a:stretch>
                  <a:fillRect r="-514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3113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תיבת טקסט 2">
                <a:extLst>
                  <a:ext uri="{FF2B5EF4-FFF2-40B4-BE49-F238E27FC236}">
                    <a16:creationId xmlns:a16="http://schemas.microsoft.com/office/drawing/2014/main" id="{26DA385B-9DC9-8BAB-4DAE-AEAA207F94C3}"/>
                  </a:ext>
                </a:extLst>
              </p:cNvPr>
              <p:cNvSpPr txBox="1"/>
              <p:nvPr/>
            </p:nvSpPr>
            <p:spPr>
              <a:xfrm>
                <a:off x="2362200" y="246507"/>
                <a:ext cx="9610725" cy="5268750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b="1" dirty="0"/>
                  <a:t>פונקציית מדרגה: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הגדרה:</a:t>
                </a:r>
                <a:r>
                  <a:rPr lang="he-IL" dirty="0"/>
                  <a:t> מחלקים את הטווח לקטעים קבועים באמצעות נקודות חיתוך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he-IL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he-IL" i="1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פונקציית הבסיס (אינדיקטור):</a:t>
                </a:r>
                <a:r>
                  <a:rPr lang="he-IL" dirty="0"/>
                  <a:t> שווה ל-1 אם המשתנה נמצא בתוך הקטע, ו-0 אחרת: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d>
                        <m:d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he-IL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he-IL" i="1" smtClean="0">
                          <a:latin typeface="Cambria Math" panose="02040503050406030204" pitchFamily="18" charset="0"/>
                        </a:rPr>
                        <m:t>𝐼</m:t>
                      </m:r>
                      <m:d>
                        <m:d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he-I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he-IL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dirty="0"/>
              </a:p>
              <a:p>
                <a:r>
                  <a:rPr lang="he-IL" b="1" dirty="0"/>
                  <a:t>המודל הסופי:</a:t>
                </a:r>
                <a:endParaRPr lang="he-IL" b="1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e-IL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  <m:e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𝜷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nary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𝑰</m:t>
                      </m:r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≤</m:t>
                          </m:r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&lt;</m:t>
                          </m:r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𝒄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e>
                      </m:d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𝝐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he-IL" b="1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היתרון:</a:t>
                </a:r>
                <a:r>
                  <a:rPr lang="he-IL" dirty="0"/>
                  <a:t> מודל </a:t>
                </a:r>
                <a:r>
                  <a:rPr lang="he-IL" b="1" dirty="0"/>
                  <a:t>מקומי</a:t>
                </a:r>
                <a:r>
                  <a:rPr lang="he-IL" dirty="0"/>
                  <a:t> לחלוטין –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שינוי של נקודה בקטע אחד לא משפיע על קטעים אחרים.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חיסרון: </a:t>
                </a:r>
                <a:r>
                  <a:rPr lang="he-IL" dirty="0"/>
                  <a:t>הפונקציה אינה גמישה מקומית (בכל תחום מתקבל ערך קבוע).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החיסרון החדש:</a:t>
                </a:r>
                <a:r>
                  <a:rPr lang="he-IL" dirty="0"/>
                  <a:t> הפונקציה </a:t>
                </a:r>
                <a:r>
                  <a:rPr lang="he-IL" b="1" dirty="0"/>
                  <a:t>אינה רציפה.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נוצרות "קפיצות" חדות בנקודות המעבר.</a:t>
                </a:r>
              </a:p>
              <a:p>
                <a:endParaRPr lang="he-IL" dirty="0"/>
              </a:p>
            </p:txBody>
          </p:sp>
        </mc:Choice>
        <mc:Fallback>
          <p:sp>
            <p:nvSpPr>
              <p:cNvPr id="3" name="תיבת טקסט 2">
                <a:extLst>
                  <a:ext uri="{FF2B5EF4-FFF2-40B4-BE49-F238E27FC236}">
                    <a16:creationId xmlns:a16="http://schemas.microsoft.com/office/drawing/2014/main" id="{26DA385B-9DC9-8BAB-4DAE-AEAA207F9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2200" y="246507"/>
                <a:ext cx="9610725" cy="5268750"/>
              </a:xfrm>
              <a:prstGeom prst="rect">
                <a:avLst/>
              </a:prstGeom>
              <a:blipFill>
                <a:blip r:embed="rId2"/>
                <a:stretch>
                  <a:fillRect r="-50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תמונה 4">
            <a:extLst>
              <a:ext uri="{FF2B5EF4-FFF2-40B4-BE49-F238E27FC236}">
                <a16:creationId xmlns:a16="http://schemas.microsoft.com/office/drawing/2014/main" id="{FE6319BC-27D3-5FC5-7A7D-B94591002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075" y="2889504"/>
            <a:ext cx="5332434" cy="3450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7609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3C1E87F8-0B8F-C666-12E7-743FE5F4F768}"/>
                  </a:ext>
                </a:extLst>
              </p:cNvPr>
              <p:cNvSpPr txBox="1"/>
              <p:nvPr/>
            </p:nvSpPr>
            <p:spPr>
              <a:xfrm>
                <a:off x="166116" y="118872"/>
                <a:ext cx="11859768" cy="5530232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b="1" dirty="0"/>
                  <a:t>הגדרה פורמלית של הקשרים (</a:t>
                </a:r>
                <a:r>
                  <a:rPr lang="he-IL" b="1" dirty="0" err="1"/>
                  <a:t>Knots</a:t>
                </a:r>
                <a:r>
                  <a:rPr lang="he-IL" b="1" dirty="0"/>
                  <a:t>):</a:t>
                </a:r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נקבע K קשרים בתוך טווח המשתנה X: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he-IL" i="0" smtClean="0">
                              <a:latin typeface="Cambria Math" panose="02040503050406030204" pitchFamily="18" charset="0"/>
                            </a:rPr>
                            <m:t>min</m:t>
                          </m:r>
                        </m:fName>
                        <m:e>
                          <m:d>
                            <m:dPr>
                              <m:ctrlPr>
                                <a:rPr lang="he-IL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  <m:r>
                        <a:rPr lang="he-IL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he-IL" i="1" smtClean="0">
                          <a:latin typeface="Cambria Math" panose="02040503050406030204" pitchFamily="18" charset="0"/>
                        </a:rPr>
                        <m:t>&lt;</m:t>
                      </m:r>
                      <m:sSub>
                        <m:sSub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he-IL" i="1" smtClean="0">
                          <a:latin typeface="Cambria Math" panose="02040503050406030204" pitchFamily="18" charset="0"/>
                        </a:rPr>
                        <m:t>&lt;…&lt;</m:t>
                      </m:r>
                      <m:sSub>
                        <m:sSub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he-IL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r>
                        <a:rPr lang="he-IL" i="1" smtClean="0">
                          <a:latin typeface="Cambria Math" panose="02040503050406030204" pitchFamily="18" charset="0"/>
                        </a:rPr>
                        <m:t>&lt;</m:t>
                      </m:r>
                      <m:func>
                        <m:funcPr>
                          <m:ctrlPr>
                            <a:rPr lang="he-IL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he-IL" i="0" smtClean="0">
                              <a:latin typeface="Cambria Math" panose="02040503050406030204" pitchFamily="18" charset="0"/>
                            </a:rPr>
                            <m:t>max</m:t>
                          </m:r>
                        </m:fName>
                        <m:e>
                          <m:d>
                            <m:dPr>
                              <m:ctrlPr>
                                <a:rPr lang="he-IL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he-IL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נקודות אלו מחלקות את הטווח ל-</a:t>
                </a:r>
                <a:r>
                  <a:rPr lang="en-US" dirty="0"/>
                  <a:t>K</a:t>
                </a:r>
                <a:r>
                  <a:rPr lang="he-IL" dirty="0"/>
                  <a:t>+1 קטעים נפרדים, כאשר הקטע ה-</a:t>
                </a:r>
                <a:r>
                  <a:rPr lang="en-US" dirty="0"/>
                  <a:t>j</a:t>
                </a:r>
                <a:r>
                  <a:rPr lang="he-IL" dirty="0"/>
                  <a:t> מוגדר כ: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𝑰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</m:sub>
                      </m:sSub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b="1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המודל התיאורטי הכללי עם </a:t>
                </a:r>
                <a:r>
                  <a:rPr lang="en-US" b="1" dirty="0"/>
                  <a:t>K</a:t>
                </a:r>
                <a:r>
                  <a:rPr lang="he-IL" b="1" dirty="0"/>
                  <a:t> קשרים:</a:t>
                </a:r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בכל קטע </a:t>
                </a:r>
                <a:r>
                  <a:rPr lang="en-US" dirty="0"/>
                  <a:t>j</a:t>
                </a:r>
                <a:r>
                  <a:rPr lang="he-IL" dirty="0"/>
                  <a:t> מתאים פולינום קובי (מדרגה 3) עצמאי לחלוטין: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</m:d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𝒋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p>
                        <m:e>
                          <m:d>
                            <m:d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𝟎</m:t>
                                  </m:r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𝟐</m:t>
                                  </m:r>
                                </m:sup>
                              </m:sSup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𝜷</m:t>
                                  </m:r>
                                </m:e>
                                <m:sub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𝒋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</m:e>
                                <m:sup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𝟑</m:t>
                                  </m:r>
                                </m:sup>
                              </m:sSup>
                            </m:e>
                          </m:d>
                        </m:e>
                      </m:nary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⋅</m:t>
                      </m:r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𝑰</m:t>
                      </m:r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𝑰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𝒋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he-IL" b="1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הבעיה הוויזואלית והסטטיסטית:</a:t>
                </a:r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dirty="0"/>
                  <a:t>ללא אילוצים נוספים, כל פולינום מתאים את עצמו באופן עצמאי. התוצאה היא קו </a:t>
                </a:r>
                <a:r>
                  <a:rPr lang="he-IL" b="1" dirty="0"/>
                  <a:t>שבור ומנותק</a:t>
                </a:r>
                <a:r>
                  <a:rPr lang="he-IL" dirty="0"/>
                  <a:t> לחלוטין בנקודות המפגש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he-IL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he-IL" dirty="0"/>
                  <a:t>).</a:t>
                </a:r>
              </a:p>
              <a:p>
                <a:pPr>
                  <a:lnSpc>
                    <a:spcPct val="150000"/>
                  </a:lnSpc>
                </a:pPr>
                <a:endParaRPr lang="he-IL" b="1" dirty="0"/>
              </a:p>
            </p:txBody>
          </p:sp>
        </mc:Choice>
        <mc:Fallback xmlns="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3C1E87F8-0B8F-C666-12E7-743FE5F4F7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116" y="118872"/>
                <a:ext cx="11859768" cy="5530232"/>
              </a:xfrm>
              <a:prstGeom prst="rect">
                <a:avLst/>
              </a:prstGeom>
              <a:blipFill>
                <a:blip r:embed="rId2"/>
                <a:stretch>
                  <a:fillRect r="-411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196BEF00-52C4-92CC-8727-09BDE8EF0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" y="1828947"/>
            <a:ext cx="4087368" cy="280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1477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038D732B-1070-546A-4C10-0CB0BA834E55}"/>
                  </a:ext>
                </a:extLst>
              </p:cNvPr>
              <p:cNvSpPr txBox="1"/>
              <p:nvPr/>
            </p:nvSpPr>
            <p:spPr>
              <a:xfrm>
                <a:off x="3813048" y="320040"/>
                <a:ext cx="8110727" cy="5843716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b="1" dirty="0" err="1"/>
                  <a:t>Cubic</a:t>
                </a:r>
                <a:r>
                  <a:rPr lang="he-IL" b="1" dirty="0"/>
                  <a:t> </a:t>
                </a:r>
                <a:r>
                  <a:rPr lang="he-IL" b="1" dirty="0" err="1"/>
                  <a:t>Spline</a:t>
                </a:r>
                <a:r>
                  <a:rPr lang="he-IL" b="1" dirty="0"/>
                  <a:t>: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ההגדרה של </a:t>
                </a:r>
                <a:r>
                  <a:rPr lang="he-IL" b="1" dirty="0" err="1"/>
                  <a:t>ספליין</a:t>
                </a:r>
                <a:r>
                  <a:rPr lang="he-IL" b="1" dirty="0"/>
                  <a:t> (</a:t>
                </a:r>
                <a:r>
                  <a:rPr lang="he-IL" b="1" dirty="0" err="1"/>
                  <a:t>Spline</a:t>
                </a:r>
                <a:r>
                  <a:rPr lang="he-IL" b="1" dirty="0"/>
                  <a:t>):</a:t>
                </a:r>
                <a:r>
                  <a:rPr lang="he-IL" dirty="0"/>
                  <a:t> פולינום מקומי מדרגה 3 שמוטלים עליו אילוצי חלקות קשיחים בכל נקודת קשר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 smtClean="0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he-IL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he-IL" dirty="0"/>
                  <a:t>).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3 אילוצי ה"תפירה" המתמטיים (בכל קשר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</m:sub>
                    </m:sSub>
                  </m:oMath>
                </a14:m>
                <a:r>
                  <a:rPr lang="he-IL" dirty="0"/>
                  <a:t>):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רציפות הפונקציה (</a:t>
                </a:r>
                <a:r>
                  <a:rPr lang="he-IL" b="1" dirty="0" err="1"/>
                  <a:t>Continuity</a:t>
                </a:r>
                <a:r>
                  <a:rPr lang="he-IL" b="1" dirty="0"/>
                  <a:t>):</a:t>
                </a:r>
                <a:r>
                  <a:rPr lang="he-IL" dirty="0"/>
                  <a:t> הקווים חייבים להיפגש פיזית בנקודה: </a:t>
                </a:r>
                <a14:m>
                  <m:oMath xmlns:m="http://schemas.openxmlformats.org/officeDocument/2006/math">
                    <m:r>
                      <a:rPr lang="he-IL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he-IL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e-IL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he-IL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</m:sup>
                        </m:sSup>
                      </m:e>
                    </m:d>
                    <m:r>
                      <a:rPr lang="he-IL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he-IL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he-IL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he-IL" i="1" smtClean="0">
                                <a:latin typeface="Cambria Math" panose="02040503050406030204" pitchFamily="18" charset="0"/>
                              </a:rPr>
                              <m:t>𝜉</m:t>
                            </m:r>
                          </m:e>
                          <m:sup>
                            <m:r>
                              <a:rPr lang="he-IL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e>
                    </m:d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רציפות הנגזרת הראשונה:</a:t>
                </a:r>
                <a:r>
                  <a:rPr lang="he-IL" dirty="0"/>
                  <a:t> השיפוע משני צידי הנקודה חייב להיות זהה (מונע פינות חדות):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′</m:t>
                          </m:r>
                        </m:sup>
                      </m:sSup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b="1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רציפות הנגזרת השנייה:</a:t>
                </a:r>
                <a:r>
                  <a:rPr lang="he-IL" dirty="0"/>
                  <a:t> קצב שינוי השיפוע (הקימור) חייב להיות רציף: 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</m:e>
                      </m:d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′′</m:t>
                          </m:r>
                        </m:sup>
                      </m:sSup>
                      <m:d>
                        <m:d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𝝃</m:t>
                              </m:r>
                            </m:e>
                            <m:sup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he-IL" b="1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התוצאה הוויזואלית:</a:t>
                </a:r>
                <a:r>
                  <a:rPr lang="he-IL" dirty="0"/>
                  <a:t> עקומה אחת שנראית חלקה לחלוטין לכל אורך הטווח</a:t>
                </a:r>
                <a:br>
                  <a:rPr lang="en-US" dirty="0"/>
                </a:br>
                <a:r>
                  <a:rPr lang="he-IL" dirty="0"/>
                  <a:t>(</a:t>
                </a:r>
                <a:r>
                  <a:rPr lang="he-IL"/>
                  <a:t>למרות שבפועל מורכבת מקטעים נפרדים).</a:t>
                </a:r>
                <a:endParaRPr lang="he-IL" dirty="0"/>
              </a:p>
              <a:p>
                <a:pPr>
                  <a:lnSpc>
                    <a:spcPct val="150000"/>
                  </a:lnSpc>
                </a:pPr>
                <a:endParaRPr lang="he-IL" i="1" dirty="0"/>
              </a:p>
              <a:p>
                <a:pPr>
                  <a:lnSpc>
                    <a:spcPct val="150000"/>
                  </a:lnSpc>
                </a:pPr>
                <a:endParaRPr lang="he-IL" dirty="0"/>
              </a:p>
              <a:p>
                <a:endParaRPr lang="he-IL" b="1" dirty="0"/>
              </a:p>
            </p:txBody>
          </p:sp>
        </mc:Choice>
        <mc:Fallback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038D732B-1070-546A-4C10-0CB0BA834E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3048" y="320040"/>
                <a:ext cx="8110727" cy="5843716"/>
              </a:xfrm>
              <a:prstGeom prst="rect">
                <a:avLst/>
              </a:prstGeom>
              <a:blipFill>
                <a:blip r:embed="rId2"/>
                <a:stretch>
                  <a:fillRect l="-526" r="-677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415A8CBC-3F52-C2E7-BE58-4E5AED8AF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" y="3127247"/>
            <a:ext cx="5225399" cy="351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47776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F33326FA-D76E-A837-E803-5C29713AE6FD}"/>
                  </a:ext>
                </a:extLst>
              </p:cNvPr>
              <p:cNvSpPr txBox="1"/>
              <p:nvPr/>
            </p:nvSpPr>
            <p:spPr>
              <a:xfrm>
                <a:off x="3054096" y="347472"/>
                <a:ext cx="8924544" cy="4468274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b="1" dirty="0"/>
                  <a:t>המימוש המתמטי: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האתגר הסטטיסטי:</a:t>
                </a:r>
                <a:r>
                  <a:rPr lang="he-IL" dirty="0"/>
                  <a:t> איך מייצגים את כל אילוצי הרציפות והנגזרות בתוך משוואת OLS יחידה?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הפתרון:</a:t>
                </a:r>
                <a:r>
                  <a:rPr lang="he-IL" dirty="0"/>
                  <a:t> שימוש בפונקציית בסיס בשם </a:t>
                </a:r>
                <a:r>
                  <a:rPr lang="he-IL" b="1" dirty="0"/>
                  <a:t>חזקה קטועה (</a:t>
                </a:r>
                <a:r>
                  <a:rPr lang="he-IL" b="1" dirty="0" err="1"/>
                  <a:t>Truncated</a:t>
                </a:r>
                <a:r>
                  <a:rPr lang="he-IL" b="1" dirty="0"/>
                  <a:t> </a:t>
                </a:r>
                <a:r>
                  <a:rPr lang="he-IL" b="1" dirty="0" err="1"/>
                  <a:t>Power</a:t>
                </a:r>
                <a:r>
                  <a:rPr lang="he-IL" b="1" dirty="0"/>
                  <a:t>)</a:t>
                </a:r>
                <a:r>
                  <a:rPr lang="he-IL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משוואת המודל עבור </a:t>
                </a:r>
                <a:r>
                  <a:rPr lang="he-IL" b="1" dirty="0" err="1"/>
                  <a:t>ספליין</a:t>
                </a:r>
                <a:r>
                  <a:rPr lang="he-IL" b="1" dirty="0"/>
                  <a:t> קובי עם </a:t>
                </a:r>
                <a:r>
                  <a:rPr lang="en-US" b="1" dirty="0"/>
                  <a:t>K</a:t>
                </a:r>
                <a:r>
                  <a:rPr lang="he-IL" b="1" dirty="0"/>
                  <a:t> קשרים:</a:t>
                </a:r>
                <a:endParaRPr lang="he-IL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sSup>
                        <m:sSup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𝜷</m:t>
                          </m:r>
                        </m:e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b>
                      </m:sSub>
                      <m:sSup>
                        <m:sSupPr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𝟑</m:t>
                          </m:r>
                        </m:sup>
                      </m:sSup>
                      <m:r>
                        <a:rPr lang="he-IL" b="1" i="1" smtClean="0">
                          <a:latin typeface="Cambria Math" panose="02040503050406030204" pitchFamily="18" charset="0"/>
                        </a:rPr>
                        <m:t>+</m:t>
                      </m:r>
                      <m:nary>
                        <m:naryPr>
                          <m:chr m:val="∑"/>
                          <m:ctrlPr>
                            <a:rPr lang="he-IL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he-IL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sup>
                        <m:e>
                          <m:sSub>
                            <m:sSub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𝜽</m:t>
                              </m:r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𝒌</m:t>
                              </m:r>
                            </m:sub>
                          </m:sSub>
                          <m:sSubSup>
                            <m:sSubSupPr>
                              <m:ctrlP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d>
                                <m:dPr>
                                  <m:ctrlP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𝒙</m:t>
                                  </m:r>
                                  <m:r>
                                    <a:rPr lang="he-IL" b="1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  <m:t>𝝃</m:t>
                                      </m:r>
                                    </m:e>
                                    <m:sub>
                                      <m:r>
                                        <a:rPr lang="he-IL" b="1" i="1" smtClean="0">
                                          <a:latin typeface="Cambria Math" panose="02040503050406030204" pitchFamily="18" charset="0"/>
                                        </a:rPr>
                                        <m:t>𝒌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b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b>
                            <m:sup>
                              <m:r>
                                <a:rPr lang="he-IL" b="1" i="1" smtClean="0">
                                  <a:latin typeface="Cambria Math" panose="02040503050406030204" pitchFamily="18" charset="0"/>
                                </a:rPr>
                                <m:t>𝟑</m:t>
                              </m:r>
                            </m:sup>
                          </m:sSubSup>
                        </m:e>
                      </m:nary>
                    </m:oMath>
                  </m:oMathPara>
                </a14:m>
                <a:endParaRPr lang="he-IL" b="1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הגדרת הרכיב הקטוע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he-IL" b="1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ctrlPr>
                              <a:rPr lang="he-IL" b="1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e-IL" b="1" i="1"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a:rPr lang="he-IL" b="1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he-IL" b="1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b="1" i="1">
                                    <a:latin typeface="Cambria Math" panose="02040503050406030204" pitchFamily="18" charset="0"/>
                                  </a:rPr>
                                  <m:t>𝝃</m:t>
                                </m:r>
                              </m:e>
                              <m:sub>
                                <m:r>
                                  <a:rPr lang="he-IL" b="1" i="1">
                                    <a:latin typeface="Cambria Math" panose="02040503050406030204" pitchFamily="18" charset="0"/>
                                  </a:rPr>
                                  <m:t>𝒌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he-IL" b="1" i="1">
                            <a:latin typeface="Cambria Math" panose="02040503050406030204" pitchFamily="18" charset="0"/>
                          </a:rPr>
                          <m:t>+</m:t>
                        </m:r>
                      </m:sub>
                      <m:sup>
                        <m:r>
                          <a:rPr lang="he-IL" b="1" i="1">
                            <a:latin typeface="Cambria Math" panose="02040503050406030204" pitchFamily="18" charset="0"/>
                          </a:rPr>
                          <m:t>𝟑</m:t>
                        </m:r>
                      </m:sup>
                    </m:sSubSup>
                  </m:oMath>
                </a14:m>
                <a:r>
                  <a:rPr lang="he-IL" b="1" dirty="0"/>
                  <a:t>:</a:t>
                </a:r>
                <a:r>
                  <a:rPr lang="he-IL" dirty="0"/>
                  <a:t> האיבר שווה ל-0 אם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he-I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he-IL" i="1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he-IL" dirty="0"/>
                  <a:t>, ושווה ל-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he-IL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e-IL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he-IL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he-IL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he-IL" i="1">
                                    <a:latin typeface="Cambria Math" panose="02040503050406030204" pitchFamily="18" charset="0"/>
                                  </a:rPr>
                                  <m:t>𝜉</m:t>
                                </m:r>
                              </m:e>
                              <m:sub>
                                <m:r>
                                  <a:rPr lang="he-IL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d>
                      </m:e>
                      <m:sup>
                        <m:r>
                          <a:rPr lang="he-IL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lang="he-IL" dirty="0"/>
                  <a:t> אם </a:t>
                </a:r>
                <a14:m>
                  <m:oMath xmlns:m="http://schemas.openxmlformats.org/officeDocument/2006/math">
                    <m:r>
                      <a:rPr lang="he-IL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he-IL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sSub>
                      <m:sSub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he-IL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המשמעות:</a:t>
                </a:r>
                <a:r>
                  <a:rPr lang="he-IL" dirty="0"/>
                  <a:t> הרכיב נשאר "כבוי" ומאופס לחלוטין, ורק כאשר </a:t>
                </a:r>
                <a:r>
                  <a:rPr lang="en-US" dirty="0"/>
                  <a:t>x</a:t>
                </a:r>
                <a:r>
                  <a:rPr lang="he-IL" dirty="0"/>
                  <a:t> חוצה את נקודת הקשר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𝜉</m:t>
                        </m:r>
                      </m:e>
                      <m:sub>
                        <m:r>
                          <a:rPr lang="he-I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he-IL" dirty="0"/>
                  <a:t>, הוא "נדלק" ומוסיף שינוי </a:t>
                </a:r>
                <a:r>
                  <a:rPr lang="he-IL" dirty="0" err="1"/>
                  <a:t>פולינומי</a:t>
                </a:r>
                <a:r>
                  <a:rPr lang="he-IL" dirty="0"/>
                  <a:t> מקומי שמקיים אוטומטית את אילוצי החלקות.</a:t>
                </a:r>
              </a:p>
              <a:p>
                <a:endParaRPr lang="he-IL" dirty="0"/>
              </a:p>
            </p:txBody>
          </p:sp>
        </mc:Choice>
        <mc:Fallback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F33326FA-D76E-A837-E803-5C29713AE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096" y="347472"/>
                <a:ext cx="8924544" cy="4468274"/>
              </a:xfrm>
              <a:prstGeom prst="rect">
                <a:avLst/>
              </a:prstGeom>
              <a:blipFill>
                <a:blip r:embed="rId2"/>
                <a:stretch>
                  <a:fillRect l="-478" r="-54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7775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E350A83C-8DA9-7711-292B-22A997BCCC93}"/>
                  </a:ext>
                </a:extLst>
              </p:cNvPr>
              <p:cNvSpPr txBox="1"/>
              <p:nvPr/>
            </p:nvSpPr>
            <p:spPr>
              <a:xfrm>
                <a:off x="886968" y="109728"/>
                <a:ext cx="11173968" cy="410881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he-IL" b="1" dirty="0"/>
                  <a:t>בעיית הגבול והשונות: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האתגר </a:t>
                </a:r>
                <a:r>
                  <a:rPr lang="he-IL" b="1" dirty="0" err="1"/>
                  <a:t>בספליין</a:t>
                </a:r>
                <a:r>
                  <a:rPr lang="he-IL" b="1" dirty="0"/>
                  <a:t> קובי רגיל (</a:t>
                </a:r>
                <a:r>
                  <a:rPr lang="he-IL" b="1" dirty="0" err="1"/>
                  <a:t>Standard</a:t>
                </a:r>
                <a:r>
                  <a:rPr lang="he-IL" b="1" dirty="0"/>
                  <a:t> </a:t>
                </a:r>
                <a:r>
                  <a:rPr lang="he-IL" b="1" dirty="0" err="1"/>
                  <a:t>Cubic</a:t>
                </a:r>
                <a:r>
                  <a:rPr lang="he-IL" b="1" dirty="0"/>
                  <a:t> </a:t>
                </a:r>
                <a:r>
                  <a:rPr lang="he-IL" b="1" dirty="0" err="1"/>
                  <a:t>Spline</a:t>
                </a:r>
                <a:r>
                  <a:rPr lang="he-IL" b="1" dirty="0"/>
                  <a:t>):</a:t>
                </a:r>
                <a:r>
                  <a:rPr lang="he-IL" dirty="0"/>
                  <a:t> פונקציית המודל שומרת על פולינום מדרגה 3 גם מחוץ לקשרים הקיצוניים בהם יש פחות מידע מה שגורם לחוסר יציבות בקצוות.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הפתרון - </a:t>
                </a:r>
                <a:r>
                  <a:rPr lang="he-IL" b="1" dirty="0" err="1"/>
                  <a:t>ספליין</a:t>
                </a:r>
                <a:r>
                  <a:rPr lang="he-IL" b="1" dirty="0"/>
                  <a:t> קובי טבעי (</a:t>
                </a:r>
                <a:r>
                  <a:rPr lang="he-IL" b="1" dirty="0" err="1"/>
                  <a:t>Natural</a:t>
                </a:r>
                <a:r>
                  <a:rPr lang="he-IL" b="1" dirty="0"/>
                  <a:t> </a:t>
                </a:r>
                <a:r>
                  <a:rPr lang="he-IL" b="1" dirty="0" err="1"/>
                  <a:t>Cubic</a:t>
                </a:r>
                <a:r>
                  <a:rPr lang="he-IL" b="1" dirty="0"/>
                  <a:t> </a:t>
                </a:r>
                <a:r>
                  <a:rPr lang="he-IL" b="1" dirty="0" err="1"/>
                  <a:t>Spline</a:t>
                </a:r>
                <a:r>
                  <a:rPr lang="he-IL" b="1" dirty="0"/>
                  <a:t>):</a:t>
                </a:r>
                <a:r>
                  <a:rPr lang="he-IL" dirty="0"/>
                  <a:t> הטלת אילוץ גבול מתמטי – הפונקציה חייבת להפוך ל</a:t>
                </a:r>
                <a:r>
                  <a:rPr lang="he-IL" b="1" dirty="0"/>
                  <a:t>ליניארית (קו ישר)</a:t>
                </a:r>
                <a:r>
                  <a:rPr lang="he-IL" dirty="0"/>
                  <a:t> מעבר לקשרים הקיצוניים, כלומר, אנחנו מאלצים: </a:t>
                </a:r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בצד שמאל ובצד ימין (עבור ערכי X הקטנים מהקשר הראשון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he-IL" b="1" dirty="0"/>
                  <a:t>  ועבור ערכי </a:t>
                </a:r>
                <a:r>
                  <a:rPr lang="en-US" b="1" dirty="0"/>
                  <a:t>X</a:t>
                </a:r>
                <a:r>
                  <a:rPr lang="he-IL" b="1" dirty="0"/>
                  <a:t> הגדולים מהקשר האחרון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he-IL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𝝃</m:t>
                        </m:r>
                      </m:e>
                      <m:sub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𝑲</m:t>
                        </m:r>
                        <m:r>
                          <a:rPr lang="he-IL" b="1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he-IL" b="1" dirty="0"/>
                  <a:t> ):</a:t>
                </a:r>
                <a:endParaRPr lang="he-IL" dirty="0"/>
              </a:p>
              <a:p>
                <a:pPr lvl="1">
                  <a:lnSpc>
                    <a:spcPct val="150000"/>
                  </a:lnSpc>
                </a:pPr>
                <a:r>
                  <a:rPr lang="he-IL" dirty="0"/>
                  <a:t>הנגזרת השנייה מתאפסת: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b="0" i="1" smtClean="0">
                            <a:latin typeface="Cambria Math" panose="02040503050406030204" pitchFamily="18" charset="0"/>
                          </a:rPr>
                          <m:t> , </m:t>
                        </m:r>
                        <m:r>
                          <a:rPr lang="he-IL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he-IL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he-I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he-IL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he-I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 dirty="0"/>
                  <a:t>והנגזרת השלישית מתאפסת: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he-IL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he-IL" i="1">
                            <a:latin typeface="Cambria Math" panose="02040503050406030204" pitchFamily="18" charset="0"/>
                          </a:rPr>
                          <m:t>′′′</m:t>
                        </m:r>
                      </m:sup>
                    </m:sSup>
                    <m:d>
                      <m:dPr>
                        <m:ctrlPr>
                          <a:rPr lang="he-I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he-IL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he-IL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he-IL" i="1">
                        <a:latin typeface="Cambria Math" panose="02040503050406030204" pitchFamily="18" charset="0"/>
                      </a:rPr>
                      <m:t>0</m:t>
                    </m:r>
                    <m:r>
                      <a:rPr lang="he-I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he-IL" dirty="0"/>
              </a:p>
              <a:p>
                <a:pPr>
                  <a:lnSpc>
                    <a:spcPct val="150000"/>
                  </a:lnSpc>
                </a:pPr>
                <a:r>
                  <a:rPr lang="he-IL" b="1" dirty="0"/>
                  <a:t>התוצאה:</a:t>
                </a:r>
                <a:r>
                  <a:rPr lang="he-IL" dirty="0"/>
                  <a:t> מודל יציב יותר בקצוות.</a:t>
                </a:r>
              </a:p>
              <a:p>
                <a:pPr>
                  <a:lnSpc>
                    <a:spcPct val="150000"/>
                  </a:lnSpc>
                </a:pPr>
                <a:endParaRPr lang="he-IL" dirty="0"/>
              </a:p>
              <a:p>
                <a:endParaRPr lang="he-IL" dirty="0"/>
              </a:p>
            </p:txBody>
          </p:sp>
        </mc:Choice>
        <mc:Fallback xmlns="">
          <p:sp>
            <p:nvSpPr>
              <p:cNvPr id="2" name="תיבת טקסט 1">
                <a:extLst>
                  <a:ext uri="{FF2B5EF4-FFF2-40B4-BE49-F238E27FC236}">
                    <a16:creationId xmlns:a16="http://schemas.microsoft.com/office/drawing/2014/main" id="{E350A83C-8DA9-7711-292B-22A997BCC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968" y="109728"/>
                <a:ext cx="11173968" cy="4108817"/>
              </a:xfrm>
              <a:prstGeom prst="rect">
                <a:avLst/>
              </a:prstGeom>
              <a:blipFill>
                <a:blip r:embed="rId2"/>
                <a:stretch>
                  <a:fillRect r="-436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תמונה 3">
            <a:extLst>
              <a:ext uri="{FF2B5EF4-FFF2-40B4-BE49-F238E27FC236}">
                <a16:creationId xmlns:a16="http://schemas.microsoft.com/office/drawing/2014/main" id="{5BA9BDBC-712A-8ACC-5CE2-0150C5309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5855" y="3593593"/>
            <a:ext cx="7690720" cy="326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925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28872203-5370-EAA9-A980-0B6BC809C13C}"/>
              </a:ext>
            </a:extLst>
          </p:cNvPr>
          <p:cNvSpPr txBox="1"/>
          <p:nvPr/>
        </p:nvSpPr>
        <p:spPr>
          <a:xfrm>
            <a:off x="530352" y="320040"/>
            <a:ext cx="11484864" cy="161582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b="1" dirty="0"/>
              <a:t>הדגמת קוד במחברת </a:t>
            </a:r>
            <a:r>
              <a:rPr lang="he-IL" b="1" dirty="0" err="1"/>
              <a:t>קולאב</a:t>
            </a:r>
            <a:r>
              <a:rPr lang="he-IL" b="1" dirty="0"/>
              <a:t>: </a:t>
            </a:r>
            <a:r>
              <a:rPr lang="en-US" b="1" dirty="0">
                <a:hlinkClick r:id="rId2"/>
              </a:rPr>
              <a:t>https://colab.research.google.com/drive/1itL9i4UtXlwoGlIQiTB9J6NXjDWvnzZ1?usp=sharing</a:t>
            </a:r>
            <a:endParaRPr lang="he-IL" b="1" dirty="0"/>
          </a:p>
          <a:p>
            <a:pPr>
              <a:lnSpc>
                <a:spcPct val="150000"/>
              </a:lnSpc>
            </a:pPr>
            <a:endParaRPr lang="he-IL" b="1" dirty="0"/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6414505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תיבת טקסט 1">
            <a:extLst>
              <a:ext uri="{FF2B5EF4-FFF2-40B4-BE49-F238E27FC236}">
                <a16:creationId xmlns:a16="http://schemas.microsoft.com/office/drawing/2014/main" id="{9CB47F21-874B-A3E2-06EC-8616EE4E6AAE}"/>
              </a:ext>
            </a:extLst>
          </p:cNvPr>
          <p:cNvSpPr txBox="1"/>
          <p:nvPr/>
        </p:nvSpPr>
        <p:spPr>
          <a:xfrm>
            <a:off x="502920" y="384048"/>
            <a:ext cx="11320272" cy="32778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he-IL" b="1" dirty="0"/>
              <a:t>סיכום ומסקנות:</a:t>
            </a:r>
          </a:p>
          <a:p>
            <a:pPr>
              <a:lnSpc>
                <a:spcPct val="150000"/>
              </a:lnSpc>
            </a:pPr>
            <a:r>
              <a:rPr lang="he-IL" b="1" dirty="0"/>
              <a:t>הכישלון הגלובלי:</a:t>
            </a:r>
            <a:r>
              <a:rPr lang="he-IL" dirty="0"/>
              <a:t> ניסיון לפתור אי-ליניאריות באמצעות פולינומים גלובליים גבוהים מוביל להתאמת-יתר ושונות קיצונית בקצוות (תופעת </a:t>
            </a:r>
            <a:r>
              <a:rPr lang="he-IL" dirty="0" err="1"/>
              <a:t>רונגה</a:t>
            </a:r>
            <a:r>
              <a:rPr lang="he-IL" dirty="0"/>
              <a:t>).</a:t>
            </a:r>
          </a:p>
          <a:p>
            <a:pPr>
              <a:lnSpc>
                <a:spcPct val="150000"/>
              </a:lnSpc>
            </a:pPr>
            <a:r>
              <a:rPr lang="he-IL" b="1" dirty="0"/>
              <a:t>הפתרון המקומי:</a:t>
            </a:r>
            <a:r>
              <a:rPr lang="he-IL" dirty="0"/>
              <a:t> </a:t>
            </a:r>
            <a:r>
              <a:rPr lang="he-IL" dirty="0" err="1"/>
              <a:t>ספליינים</a:t>
            </a:r>
            <a:r>
              <a:rPr lang="he-IL" dirty="0"/>
              <a:t> מחלקים את הטווח לקטעים בעזרת קשרים (</a:t>
            </a:r>
            <a:r>
              <a:rPr lang="he-IL" dirty="0" err="1"/>
              <a:t>Knots</a:t>
            </a:r>
            <a:r>
              <a:rPr lang="he-IL" dirty="0"/>
              <a:t>). אילוצי הרציפות בנגזרות "תופרים" אותם לכדי עקומה חלקה אחת.</a:t>
            </a:r>
          </a:p>
          <a:p>
            <a:pPr>
              <a:lnSpc>
                <a:spcPct val="150000"/>
              </a:lnSpc>
            </a:pPr>
            <a:r>
              <a:rPr lang="he-IL" b="1" dirty="0"/>
              <a:t>השדרוג הטבעי:</a:t>
            </a:r>
            <a:r>
              <a:rPr lang="he-IL" dirty="0"/>
              <a:t> </a:t>
            </a:r>
            <a:r>
              <a:rPr lang="he-IL" dirty="0" err="1"/>
              <a:t>הספליין</a:t>
            </a:r>
            <a:r>
              <a:rPr lang="he-IL" dirty="0"/>
              <a:t> הטבעי (</a:t>
            </a:r>
            <a:r>
              <a:rPr lang="he-IL" dirty="0" err="1"/>
              <a:t>Natural</a:t>
            </a:r>
            <a:r>
              <a:rPr lang="he-IL" dirty="0"/>
              <a:t> </a:t>
            </a:r>
            <a:r>
              <a:rPr lang="he-IL" dirty="0" err="1"/>
              <a:t>Spline</a:t>
            </a:r>
            <a:r>
              <a:rPr lang="he-IL" dirty="0"/>
              <a:t>) מאלץ ליניאריות מחוץ לקשרים הקיצוניים, ובכך מייצב ומצמצם דרמטית את רווחי הסמך בשוליים.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73569617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1338</TotalTime>
  <Words>1112</Words>
  <Application>Microsoft Office PowerPoint</Application>
  <PresentationFormat>מסך רחב</PresentationFormat>
  <Paragraphs>96</Paragraphs>
  <Slides>14</Slides>
  <Notes>0</Notes>
  <HiddenSlides>2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ערכת נושא Office</vt:lpstr>
      <vt:lpstr>Cubic Splines:  From Statistical Need to Practical Solution 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יעל כהן</dc:creator>
  <cp:lastModifiedBy>יעל כהן</cp:lastModifiedBy>
  <cp:revision>1</cp:revision>
  <cp:lastPrinted>2026-06-15T10:53:38Z</cp:lastPrinted>
  <dcterms:created xsi:type="dcterms:W3CDTF">2026-06-01T17:34:59Z</dcterms:created>
  <dcterms:modified xsi:type="dcterms:W3CDTF">2026-06-16T16:06:39Z</dcterms:modified>
</cp:coreProperties>
</file>